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3" r:id="rId5"/>
    <p:sldId id="264" r:id="rId6"/>
    <p:sldId id="269" r:id="rId7"/>
    <p:sldId id="270" r:id="rId8"/>
    <p:sldId id="273" r:id="rId9"/>
    <p:sldId id="27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7835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229600" y="0"/>
            <a:ext cx="3959352" cy="21945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Shape 2"/>
          <p:cNvSpPr/>
          <p:nvPr/>
        </p:nvSpPr>
        <p:spPr>
          <a:xfrm>
            <a:off x="8778240" y="2148840"/>
            <a:ext cx="3410712" cy="21945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9326880" y="4297680"/>
            <a:ext cx="2862072" cy="2194560"/>
          </a:xfrm>
          <a:prstGeom prst="rect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PARTICULAR DE LOJA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 final 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52578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Oswaldo Vargas Naula
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Leonardo Yaguache Plaza
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 23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5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públicos valiosos, pero inutilizables tal como llegan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BEDEA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777240" y="1947672"/>
            <a:ext cx="594360" cy="594360"/>
          </a:xfrm>
          <a:prstGeom prst="ellipse">
            <a:avLst/>
          </a:prstGeom>
          <a:solidFill>
            <a:srgbClr val="C0503B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6" name="Image 0" descr="icons/ale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4" y="2102206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10512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instituciones ecuatorianas (BCE, INEC, Supercías, MINEDUC) publican en Excel/CSV con estructuras inconsistentes y sin protocolo común de integración.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9" name="Shape 6"/>
          <p:cNvSpPr/>
          <p:nvPr/>
        </p:nvSpPr>
        <p:spPr>
          <a:xfrm>
            <a:off x="153619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0" name="Image 1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613" y="35039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Encabezados en múltiples filas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1323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y metadatos antes de los datos reales; hojas sin fila de cabecera fija.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38328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Shape 10"/>
          <p:cNvSpPr/>
          <p:nvPr/>
        </p:nvSpPr>
        <p:spPr>
          <a:xfrm>
            <a:off x="437083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5" name="Image 2" descr="icons/fla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7253" y="350398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2044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provisionales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54787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marcados como "2024 (p)" que rompen la conversión numérica estándar.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21792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Shape 14"/>
          <p:cNvSpPr/>
          <p:nvPr/>
        </p:nvSpPr>
        <p:spPr>
          <a:xfrm>
            <a:off x="720547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20" name="Image 3" descr="icons/grid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893" y="350398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5508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Estructuras pivotadas (wide)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8251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Provincias y periodos como columnas, no como filas analizables.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905256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Shape 18"/>
          <p:cNvSpPr/>
          <p:nvPr/>
        </p:nvSpPr>
        <p:spPr>
          <a:xfrm>
            <a:off x="1004011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25" name="Image 4" descr="icons/file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6533" y="3503981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18972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protocolo común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921715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fuente institucional define su propio formato y convención de nombres.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archivos dispersos a un sistema analítico único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87452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 implementar un pipeline de datos automatizado, escalable y reproducible del macroentorno ecuatoriano, con PostgreSQL 16 como motor de almacenamiento y Python como lenguaje de orquestación.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303580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doce datasets de cuatro fuentes institucionales en un esquema Silver normalizado.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216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548640" y="3721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94176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seis vistas analíticas Gold que respondan preguntas estratégicas de la UTPL.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548640" y="4379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352544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ejecución mediante un orquestador con registro centralizado de fuentes.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3834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548640" y="5038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5010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mecanismo watchdog para soporte a procesos RPA.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9671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548640" y="5696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88720" y="566928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sistema a Power BI para un dashboard ejecutivo.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· MACROENTORNO — FUENTES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instituciones, doce datasets, 900 mil+ registros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15184" cy="329184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15184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1559052" y="199339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8" name="Image 0" descr="icons/b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86" y="21479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2834640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2461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del Ecuador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2066544" cy="0"/>
          </a:xfrm>
          <a:prstGeom prst="line">
            <a:avLst/>
          </a:prstGeom>
          <a:noFill/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9"/>
          <p:cNvSpPr/>
          <p:nvPr/>
        </p:nvSpPr>
        <p:spPr>
          <a:xfrm>
            <a:off x="713232" y="41148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datasets · PIB, WTI, riesgo país, IEE, VAB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383280" y="1828800"/>
            <a:ext cx="2615184" cy="329184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Shape 11"/>
          <p:cNvSpPr/>
          <p:nvPr/>
        </p:nvSpPr>
        <p:spPr>
          <a:xfrm>
            <a:off x="3383280" y="18288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5" name="Shape 12"/>
          <p:cNvSpPr/>
          <p:nvPr/>
        </p:nvSpPr>
        <p:spPr>
          <a:xfrm>
            <a:off x="3383280" y="2331720"/>
            <a:ext cx="2615184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6" name="Shape 13"/>
          <p:cNvSpPr/>
          <p:nvPr/>
        </p:nvSpPr>
        <p:spPr>
          <a:xfrm>
            <a:off x="4393692" y="199339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7" name="Image 1" descr="icons/user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226" y="2147926"/>
            <a:ext cx="285293" cy="28529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474720" y="2834640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INEC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3520440" y="32461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Nac. de Estadística y Censos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57600" y="3977640"/>
            <a:ext cx="2066544" cy="0"/>
          </a:xfrm>
          <a:prstGeom prst="line">
            <a:avLst/>
          </a:prstGeom>
          <a:noFill/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7"/>
          <p:cNvSpPr/>
          <p:nvPr/>
        </p:nvSpPr>
        <p:spPr>
          <a:xfrm>
            <a:off x="3547872" y="41148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datasets · ENEMDU, Censo 2022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17920" y="1828800"/>
            <a:ext cx="2615184" cy="329184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Shape 19"/>
          <p:cNvSpPr/>
          <p:nvPr/>
        </p:nvSpPr>
        <p:spPr>
          <a:xfrm>
            <a:off x="6217920" y="18288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4" name="Shape 20"/>
          <p:cNvSpPr/>
          <p:nvPr/>
        </p:nvSpPr>
        <p:spPr>
          <a:xfrm>
            <a:off x="6217920" y="2331720"/>
            <a:ext cx="2615184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5" name="Shape 21"/>
          <p:cNvSpPr/>
          <p:nvPr/>
        </p:nvSpPr>
        <p:spPr>
          <a:xfrm>
            <a:off x="7228332" y="199339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26" name="Image 2" descr="icons/briefcas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2866" y="2147926"/>
            <a:ext cx="285293" cy="285293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09360" y="2834640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Supercías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355080" y="32461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Superintendencia de Compañías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492240" y="3977640"/>
            <a:ext cx="2066544" cy="0"/>
          </a:xfrm>
          <a:prstGeom prst="line">
            <a:avLst/>
          </a:prstGeom>
          <a:noFill/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5"/>
          <p:cNvSpPr/>
          <p:nvPr/>
        </p:nvSpPr>
        <p:spPr>
          <a:xfrm>
            <a:off x="6382512" y="41148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datasets · + ranking financiero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9052560" y="1828800"/>
            <a:ext cx="2615184" cy="329184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Shape 27"/>
          <p:cNvSpPr/>
          <p:nvPr/>
        </p:nvSpPr>
        <p:spPr>
          <a:xfrm>
            <a:off x="9052560" y="1828800"/>
            <a:ext cx="2615184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3" name="Shape 28"/>
          <p:cNvSpPr/>
          <p:nvPr/>
        </p:nvSpPr>
        <p:spPr>
          <a:xfrm>
            <a:off x="9052560" y="2331720"/>
            <a:ext cx="2615184" cy="41148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4" name="Shape 29"/>
          <p:cNvSpPr/>
          <p:nvPr/>
        </p:nvSpPr>
        <p:spPr>
          <a:xfrm>
            <a:off x="10062972" y="1993392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35" name="Image 3" descr="icons/bookOpe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7506" y="2147926"/>
            <a:ext cx="285293" cy="28529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9144000" y="2834640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MINEDUC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9189720" y="32461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Ministerio de Educación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9326880" y="3977640"/>
            <a:ext cx="2066544" cy="0"/>
          </a:xfrm>
          <a:prstGeom prst="line">
            <a:avLst/>
          </a:prstGeom>
          <a:noFill/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" name="Text 33"/>
          <p:cNvSpPr/>
          <p:nvPr/>
        </p:nvSpPr>
        <p:spPr>
          <a:xfrm>
            <a:off x="9217152" y="4114800"/>
            <a:ext cx="22860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dataset · Bachilleres por institución (AMIE)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1" name="Text 35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datasets integrados  ·  </a:t>
            </a: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900,000 registros consolidados en un esquema relacional único</a:t>
            </a:r>
            <a:endParaRPr lang="en-US" sz="1300" dirty="0"/>
          </a:p>
        </p:txBody>
      </p:sp>
      <p:sp>
        <p:nvSpPr>
          <p:cNvPr id="42" name="Text 3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· MACROENTORNO — 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Medallion: Bronze → Silver → Gold</a:t>
            </a:r>
            <a:endParaRPr lang="en-US" sz="300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1C5BE4CB-5FD4-3D60-9F69-F13C536A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280" y="1536192"/>
            <a:ext cx="7711440" cy="49573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· MACROENTORNO — CAPA GOLD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vistas analíticas para decisiones estratégicas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731520" y="193852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gold_pib_tendencia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ha crecido el PIB 1965–2024?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919472" y="212140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4919472" y="212140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19472" y="25420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90488" y="182880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6373368" y="193852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gold_empleo_tendencia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73368" y="233172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¿Evolución del mercado laboral?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10561320" y="212140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10561320" y="212140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61320" y="25420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731520" y="340156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gold_petroleo_30dias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79476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¿Tendencia WTI con media móvil 30d?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919472" y="358444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919472" y="358444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9472" y="400507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90488" y="329184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Text 21"/>
          <p:cNvSpPr/>
          <p:nvPr/>
        </p:nvSpPr>
        <p:spPr>
          <a:xfrm>
            <a:off x="6373368" y="340156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gold_bachilleres_vs_empresas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379476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¿Brecha educativa / empresarial?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10561320" y="358444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10561320" y="358444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61320" y="400507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9" name="Text 27"/>
          <p:cNvSpPr/>
          <p:nvPr/>
        </p:nvSpPr>
        <p:spPr>
          <a:xfrm>
            <a:off x="731520" y="486460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gold_iee_sectorial_tendencia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525780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¿Sectores con mayor optimismo?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4919472" y="504748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4919472" y="504748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919472" y="546811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90488" y="475488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" name="Text 33"/>
          <p:cNvSpPr/>
          <p:nvPr/>
        </p:nvSpPr>
        <p:spPr>
          <a:xfrm>
            <a:off x="6373368" y="486460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gold_vab_provincial_ranking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373368" y="525780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¿Ranking provincial multidimensional?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10561320" y="504748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8" name="Text 36"/>
          <p:cNvSpPr/>
          <p:nvPr/>
        </p:nvSpPr>
        <p:spPr>
          <a:xfrm>
            <a:off x="10561320" y="504748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561320" y="546811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pipeline en cifras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912,741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560320"/>
            <a:ext cx="2395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Silver (Reto 2)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6217920" y="1828800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327648" y="2560320"/>
            <a:ext cx="2395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Silver normalizadas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9052560" y="1828800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162288" y="2560320"/>
            <a:ext cx="2395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analíticas Gold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dos retos académicos a una infraestructura de datos real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5" name="Image 0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9476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755648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cumplieron todos los objetivos: 912,741 registros Silver + 442,716 registros AMIE, y 6 vistas Gold que responden preguntas estratégicas de la UTPL.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706624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8" name="Image 1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825496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633472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Medallion permitió desarrollar, depurar y corregir cada capa de forma independiente, reduciendo el impacto de errores.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584448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1" name="Image 2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70332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3511296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Registry Pattern garantiza escalabilidad real: nuevas fuentes se integran sin modificar el orquestador principal.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4" name="Image 3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811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43891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heterogéneos requieren estrategias adaptativas: detección dinámica de encabezados en lugar de estructuras fijas.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5340096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7" name="Image 4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458968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5266944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puede operar como infraestructura de monitoreo continuo gracias al modo watchdog, integrando nuevas publicaciones sin intervención manual.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959352" cy="21945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Shape 2"/>
          <p:cNvSpPr/>
          <p:nvPr/>
        </p:nvSpPr>
        <p:spPr>
          <a:xfrm>
            <a:off x="0" y="2148840"/>
            <a:ext cx="3410712" cy="21945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0" y="4297680"/>
            <a:ext cx="2862072" cy="2194560"/>
          </a:xfrm>
          <a:prstGeom prst="rect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0" y="24688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0" y="342900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Datos del Macroentorno Ecuatoriano · Gestión de Datos, Sexto Ciclo · UTPL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41148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Leonardo Yaguache Plaza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4434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Francisco Oswaldo Vargas Naula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613</Words>
  <Application>Microsoft Office PowerPoint</Application>
  <PresentationFormat>Panorámica</PresentationFormat>
  <Paragraphs>105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Mateo Yaguache</cp:lastModifiedBy>
  <cp:revision>2</cp:revision>
  <dcterms:created xsi:type="dcterms:W3CDTF">2026-07-23T12:41:55Z</dcterms:created>
  <dcterms:modified xsi:type="dcterms:W3CDTF">2026-07-23T12:57:56Z</dcterms:modified>
</cp:coreProperties>
</file>