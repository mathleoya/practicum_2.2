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64" r:id="rId5"/>
    <p:sldId id="269" r:id="rId6"/>
    <p:sldId id="275" r:id="rId7"/>
    <p:sldId id="276" r:id="rId8"/>
    <p:sldId id="273" r:id="rId9"/>
    <p:sldId id="27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78355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A33A6-1492-D6B8-588D-73E62179B1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82D9F-972F-7EEF-DEE1-FFD18E1944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90DA21-0339-AD1C-A0D9-03936BCE7C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90E6D6-ECBF-1FE6-2F44-9DE7FC7F9E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96237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9990A-A92B-C328-CEDC-6F22E7808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7E68C6-4FC3-3B37-FD1F-F536F73B82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796BED-490D-93B4-DEE9-77977C4FF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B8424F-9F54-8DA5-ABEA-1AE5C206708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44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229600" y="0"/>
            <a:ext cx="3959352" cy="21945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4" name="Shape 2"/>
          <p:cNvSpPr/>
          <p:nvPr/>
        </p:nvSpPr>
        <p:spPr>
          <a:xfrm>
            <a:off x="8778240" y="2148840"/>
            <a:ext cx="3410712" cy="21945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9326880" y="4297680"/>
            <a:ext cx="2862072" cy="2194560"/>
          </a:xfrm>
          <a:prstGeom prst="rect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640080" y="548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PARTICULAR DE LOJA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4400"/>
              </a:lnSpc>
            </a:pPr>
            <a:r>
              <a:rPr lang="es-E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Análisis del Macroentorno y Sector Educativo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640080" y="5257800"/>
            <a:ext cx="6858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300" b="1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Oswaldo Vargas Naula
</a:t>
            </a: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Estudiante: 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Mateo Leonardo Yaguache Plaza
</a:t>
            </a: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Fecha:  23 </a:t>
            </a: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Julio,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C05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PROBLEMÁTICA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Datos públicos valiosos, pero inutilizables tal como llegan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BEDEA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777240" y="1947672"/>
            <a:ext cx="594360" cy="594360"/>
          </a:xfrm>
          <a:prstGeom prst="ellipse">
            <a:avLst/>
          </a:prstGeom>
          <a:solidFill>
            <a:srgbClr val="C0503B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6" name="Image 0" descr="icons/aler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1774" y="2102206"/>
            <a:ext cx="285293" cy="28529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1810512"/>
            <a:ext cx="9784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instituciones ecuatorianas (BCE, INEC, Supercías, MINEDUC) publican en Excel/CSV con estructuras inconsistentes y sin protocolo común de integración.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063240"/>
            <a:ext cx="2615184" cy="288036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9" name="Shape 6"/>
          <p:cNvSpPr/>
          <p:nvPr/>
        </p:nvSpPr>
        <p:spPr>
          <a:xfrm>
            <a:off x="1536192" y="33375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0" name="Image 1" descr="icons/clipboard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2613" y="3503981"/>
            <a:ext cx="307238" cy="30723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5800" y="41605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Encabezados en múltiples filas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713232" y="48463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Títulos y metadatos antes de los datos reales; hojas sin fila de cabecera fija.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383280" y="3063240"/>
            <a:ext cx="2615184" cy="288036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Shape 10"/>
          <p:cNvSpPr/>
          <p:nvPr/>
        </p:nvSpPr>
        <p:spPr>
          <a:xfrm>
            <a:off x="4370832" y="33375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5" name="Image 2" descr="icons/flag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7253" y="350398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520440" y="41605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provisionales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3547872" y="48463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Años marcados como "2024 (p)" que rompen la conversión numérica estándar.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6217920" y="3063240"/>
            <a:ext cx="2615184" cy="288036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9" name="Shape 14"/>
          <p:cNvSpPr/>
          <p:nvPr/>
        </p:nvSpPr>
        <p:spPr>
          <a:xfrm>
            <a:off x="7205472" y="33375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20" name="Image 3" descr="icons/grid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1893" y="3503981"/>
            <a:ext cx="307238" cy="30723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355080" y="41605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Estructuras pivotadas (wide)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6382512" y="48463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Provincias y periodos como columnas, no como filas analizables.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9052560" y="3063240"/>
            <a:ext cx="2615184" cy="2880360"/>
          </a:xfrm>
          <a:prstGeom prst="roundRect">
            <a:avLst>
              <a:gd name="adj" fmla="val 2797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4" name="Shape 18"/>
          <p:cNvSpPr/>
          <p:nvPr/>
        </p:nvSpPr>
        <p:spPr>
          <a:xfrm>
            <a:off x="10040112" y="333756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25" name="Image 4" descr="icons/files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06533" y="3503981"/>
            <a:ext cx="307238" cy="30723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189720" y="4160520"/>
            <a:ext cx="2340864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protocolo común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9217152" y="484632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fuente institucional define su propio formato y convención de nombres.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DEL PROYECTO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archivos dispersos a un sistema analítico único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822960" y="18745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general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108960" y="1874520"/>
            <a:ext cx="8321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e implementar un pipeline de datos automatizado, 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escalable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con PostgreSQL 16 como motor de almacenamiento y Python como lenguaje de orquestación.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303580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doce datasets de cuatro fuentes institucionales en un esquema Silver normalizado.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72160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548640" y="372160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88720" y="3694176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seis vistas analíticas Gold que respondan preguntas estratégicas de la UTPL.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437997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548640" y="437997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88720" y="4352544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Automatizar la ejecución mediante un orquestador con registro centralizado de fuentes.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5038344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548640" y="50383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50109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un mecanismo watchdog para soporte a procesos RPA.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69671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548640" y="56967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88720" y="5669280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Conectar el sistema a Power BI para un dashboard ejecutivo.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 2 · MACROENTORNO — 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Medallion: Bronze → Silver → Gold</a:t>
            </a:r>
            <a:endParaRPr lang="en-US" sz="30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1625D75-FEFC-8FA5-5E0A-CF1EC92CF8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7261"/>
          <a:stretch>
            <a:fillRect/>
          </a:stretch>
        </p:blipFill>
        <p:spPr>
          <a:xfrm>
            <a:off x="205229" y="1962023"/>
            <a:ext cx="11781541" cy="21341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Vistas </a:t>
            </a:r>
            <a:r>
              <a:rPr lang="en-US" sz="30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analíticas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5" name="Text 3"/>
          <p:cNvSpPr/>
          <p:nvPr/>
        </p:nvSpPr>
        <p:spPr>
          <a:xfrm>
            <a:off x="731520" y="193852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gold_pib_tendencia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33172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ha crecido el PIB 1965–2024?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4919472" y="212140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4919472" y="212140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19472" y="25420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190488" y="182880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6373368" y="193852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gold_empleo_tendencia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73368" y="233172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¿Evolución del mercado laboral?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10561320" y="212140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10561320" y="212140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61320" y="254203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329184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7" name="Text 15"/>
          <p:cNvSpPr/>
          <p:nvPr/>
        </p:nvSpPr>
        <p:spPr>
          <a:xfrm>
            <a:off x="731520" y="340156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gold_petroleo_30dias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379476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¿Tendencia WTI con media móvil 30d?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919472" y="358444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20" name="Text 18"/>
          <p:cNvSpPr/>
          <p:nvPr/>
        </p:nvSpPr>
        <p:spPr>
          <a:xfrm>
            <a:off x="4919472" y="358444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19472" y="400507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90488" y="329184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3" name="Text 21"/>
          <p:cNvSpPr/>
          <p:nvPr/>
        </p:nvSpPr>
        <p:spPr>
          <a:xfrm>
            <a:off x="6373368" y="340156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gold_bachilleres_vs_empresas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373368" y="379476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¿Brecha educativa / empresarial?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10561320" y="358444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10561320" y="358444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561320" y="400507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48640" y="475488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9" name="Text 27"/>
          <p:cNvSpPr/>
          <p:nvPr/>
        </p:nvSpPr>
        <p:spPr>
          <a:xfrm>
            <a:off x="731520" y="486460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gold_iee_sectorial_tendencia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525780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</a:t>
            </a:r>
            <a:r>
              <a:rPr lang="es-E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Cuál es el nivel de optimismo empresarial</a:t>
            </a: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1080" dirty="0"/>
          </a:p>
        </p:txBody>
      </p:sp>
      <p:sp>
        <p:nvSpPr>
          <p:cNvPr id="31" name="Shape 29"/>
          <p:cNvSpPr/>
          <p:nvPr/>
        </p:nvSpPr>
        <p:spPr>
          <a:xfrm>
            <a:off x="4919472" y="504748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32" name="Text 30"/>
          <p:cNvSpPr/>
          <p:nvPr/>
        </p:nvSpPr>
        <p:spPr>
          <a:xfrm>
            <a:off x="4919472" y="504748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195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919472" y="546811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190488" y="4754880"/>
            <a:ext cx="5422392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8EB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5" name="Text 33"/>
          <p:cNvSpPr/>
          <p:nvPr/>
        </p:nvSpPr>
        <p:spPr>
          <a:xfrm>
            <a:off x="6373368" y="4864608"/>
            <a:ext cx="41422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gold_vab_provincial_ranking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373368" y="5257800"/>
            <a:ext cx="414223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8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¿Ranking provincial multidimensional?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10561320" y="5047488"/>
            <a:ext cx="868680" cy="685800"/>
          </a:xfrm>
          <a:prstGeom prst="roundRect">
            <a:avLst>
              <a:gd name="adj" fmla="val 10667"/>
            </a:avLst>
          </a:prstGeom>
          <a:solidFill>
            <a:srgbClr val="EAF1F4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38" name="Text 36"/>
          <p:cNvSpPr/>
          <p:nvPr/>
        </p:nvSpPr>
        <p:spPr>
          <a:xfrm>
            <a:off x="10561320" y="5047488"/>
            <a:ext cx="868680" cy="4114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10561320" y="5468112"/>
            <a:ext cx="868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9D10-B62F-CB75-1376-6328F688C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FBE7B4A-62E1-4685-42F3-4EA5E3D0879C}"/>
              </a:ext>
            </a:extLst>
          </p:cNvPr>
          <p:cNvSpPr/>
          <p:nvPr/>
        </p:nvSpPr>
        <p:spPr>
          <a:xfrm>
            <a:off x="792480" y="1106736"/>
            <a:ext cx="323834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Macroeconomía</a:t>
            </a:r>
            <a:endParaRPr lang="en-US" sz="30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0754C61-50FA-323F-2079-9E09DD3020AA}"/>
              </a:ext>
            </a:extLst>
          </p:cNvPr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42" name="Text 1">
            <a:extLst>
              <a:ext uri="{FF2B5EF4-FFF2-40B4-BE49-F238E27FC236}">
                <a16:creationId xmlns:a16="http://schemas.microsoft.com/office/drawing/2014/main" id="{60A2DEE4-C995-21E9-A75F-DC7A523AF9CC}"/>
              </a:ext>
            </a:extLst>
          </p:cNvPr>
          <p:cNvSpPr/>
          <p:nvPr/>
        </p:nvSpPr>
        <p:spPr>
          <a:xfrm>
            <a:off x="579742" y="324457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</a:t>
            </a:r>
            <a:endParaRPr lang="en-US" sz="3000" dirty="0"/>
          </a:p>
        </p:txBody>
      </p:sp>
      <p:pic>
        <p:nvPicPr>
          <p:cNvPr id="44" name="Imagen 43">
            <a:extLst>
              <a:ext uri="{FF2B5EF4-FFF2-40B4-BE49-F238E27FC236}">
                <a16:creationId xmlns:a16="http://schemas.microsoft.com/office/drawing/2014/main" id="{B9A61ECB-D296-077C-771E-C41F2F4B6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759" y="1776737"/>
            <a:ext cx="4325576" cy="4756806"/>
          </a:xfrm>
          <a:prstGeom prst="rect">
            <a:avLst/>
          </a:prstGeom>
        </p:spPr>
      </p:pic>
      <p:pic>
        <p:nvPicPr>
          <p:cNvPr id="46" name="Imagen 45">
            <a:extLst>
              <a:ext uri="{FF2B5EF4-FFF2-40B4-BE49-F238E27FC236}">
                <a16:creationId xmlns:a16="http://schemas.microsoft.com/office/drawing/2014/main" id="{9210189A-5D53-883C-988D-C8D968406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9073" y="1776737"/>
            <a:ext cx="5458454" cy="4756803"/>
          </a:xfrm>
          <a:prstGeom prst="rect">
            <a:avLst/>
          </a:prstGeom>
        </p:spPr>
      </p:pic>
      <p:sp>
        <p:nvSpPr>
          <p:cNvPr id="50" name="Text 1">
            <a:extLst>
              <a:ext uri="{FF2B5EF4-FFF2-40B4-BE49-F238E27FC236}">
                <a16:creationId xmlns:a16="http://schemas.microsoft.com/office/drawing/2014/main" id="{1DFD7587-15BA-C227-151F-84595804C263}"/>
              </a:ext>
            </a:extLst>
          </p:cNvPr>
          <p:cNvSpPr/>
          <p:nvPr/>
        </p:nvSpPr>
        <p:spPr>
          <a:xfrm>
            <a:off x="5309072" y="1050597"/>
            <a:ext cx="3984217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Producción</a:t>
            </a: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y Laboral</a:t>
            </a:r>
            <a:endParaRPr lang="en-US" sz="3000" dirty="0"/>
          </a:p>
        </p:txBody>
      </p:sp>
    </p:spTree>
    <p:extLst>
      <p:ext uri="{BB962C8B-B14F-4D97-AF65-F5344CB8AC3E}">
        <p14:creationId xmlns:p14="http://schemas.microsoft.com/office/powerpoint/2010/main" val="2976715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77E79-840B-0D9D-6209-F77C6B485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263334B-0019-BBD9-1927-A17C731095A3}"/>
              </a:ext>
            </a:extLst>
          </p:cNvPr>
          <p:cNvSpPr/>
          <p:nvPr/>
        </p:nvSpPr>
        <p:spPr>
          <a:xfrm>
            <a:off x="792480" y="1106736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Bachilleres</a:t>
            </a: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y Empresas</a:t>
            </a:r>
            <a:endParaRPr lang="en-US" sz="30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07767508-E449-AAFC-9640-5A337624B5FC}"/>
              </a:ext>
            </a:extLst>
          </p:cNvPr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  <p:sp>
        <p:nvSpPr>
          <p:cNvPr id="42" name="Text 1">
            <a:extLst>
              <a:ext uri="{FF2B5EF4-FFF2-40B4-BE49-F238E27FC236}">
                <a16:creationId xmlns:a16="http://schemas.microsoft.com/office/drawing/2014/main" id="{92755AC6-F44E-353D-EC55-23BCF6DAD8B6}"/>
              </a:ext>
            </a:extLst>
          </p:cNvPr>
          <p:cNvSpPr/>
          <p:nvPr/>
        </p:nvSpPr>
        <p:spPr>
          <a:xfrm>
            <a:off x="579742" y="324457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</a:t>
            </a:r>
            <a:endParaRPr lang="en-US" sz="30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A36F4E2-B347-F5A0-7231-96B1D9DA3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42" y="1986641"/>
            <a:ext cx="9838136" cy="4546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4642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5" name="Image 0" descr="icons/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947672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1755648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cumplieron todos los objetivos: 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las 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diferentes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y 6 vistas Gold que responden preguntas estratégicas de la UTPL.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2706624"/>
            <a:ext cx="457200" cy="457200"/>
          </a:xfrm>
          <a:prstGeom prst="ellipse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8" name="Image 1" descr="icons/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2825496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88720" y="2633472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arquitectura Medallion permitió desarrollar, depurar y corregir cada capa de forma independiente, reduciendo el impacto de errores.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3584448"/>
            <a:ext cx="457200" cy="457200"/>
          </a:xfrm>
          <a:prstGeom prst="ellipse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1" name="Image 2" descr="icons/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3703320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88720" y="36758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nuevas fuentes se integran sin modificar el orquestador principal.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48640" y="4462272"/>
            <a:ext cx="457200" cy="457200"/>
          </a:xfrm>
          <a:prstGeom prst="ellipse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4" name="Image 3" descr="icons/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4581144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88720" y="4389120"/>
            <a:ext cx="10332720" cy="64941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datos heterogéneos requieren 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estrategias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adaptativas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lugar de estructuras fijas.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548640" y="5340096"/>
            <a:ext cx="457200" cy="457200"/>
          </a:xfrm>
          <a:prstGeom prst="ellipse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pic>
        <p:nvPicPr>
          <p:cNvPr id="17" name="Image 4" descr="icons/chec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5458968"/>
            <a:ext cx="219456" cy="21945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188720" y="5266944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pipeline puede operar como infraestructura de monitoreo continuo gracias al modo watchdog, integrando nuevas publicaciones sin intervención manual.</a:t>
            </a:r>
            <a:endParaRPr lang="en-US" sz="1250" dirty="0"/>
          </a:p>
        </p:txBody>
      </p:sp>
      <p:sp>
        <p:nvSpPr>
          <p:cNvPr id="19" name="Text 12"/>
          <p:cNvSpPr/>
          <p:nvPr/>
        </p:nvSpPr>
        <p:spPr>
          <a:xfrm>
            <a:off x="11365992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3959352" cy="2194560"/>
          </a:xfrm>
          <a:prstGeom prst="rect">
            <a:avLst/>
          </a:prstGeom>
          <a:solidFill>
            <a:srgbClr val="065A82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4" name="Shape 2"/>
          <p:cNvSpPr/>
          <p:nvPr/>
        </p:nvSpPr>
        <p:spPr>
          <a:xfrm>
            <a:off x="0" y="2148840"/>
            <a:ext cx="3410712" cy="2194560"/>
          </a:xfrm>
          <a:prstGeom prst="rect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0" y="4297680"/>
            <a:ext cx="2862072" cy="2194560"/>
          </a:xfrm>
          <a:prstGeom prst="rect">
            <a:avLst/>
          </a:prstGeom>
          <a:solidFill>
            <a:srgbClr val="5FB3A3"/>
          </a:solidFill>
          <a:ln/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4572000" y="246888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4572000" y="41148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Mateo Leonardo Yaguache Plaza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460</Words>
  <Application>Microsoft Office PowerPoint</Application>
  <PresentationFormat>Panorámica</PresentationFormat>
  <Paragraphs>79</Paragraphs>
  <Slides>9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Mateo Yaguache</cp:lastModifiedBy>
  <cp:revision>5</cp:revision>
  <dcterms:created xsi:type="dcterms:W3CDTF">2026-07-23T12:41:55Z</dcterms:created>
  <dcterms:modified xsi:type="dcterms:W3CDTF">2026-07-23T17:56:46Z</dcterms:modified>
</cp:coreProperties>
</file>