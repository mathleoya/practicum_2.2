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3" r:id="rId5"/>
    <p:sldId id="264" r:id="rId6"/>
    <p:sldId id="269" r:id="rId7"/>
    <p:sldId id="275" r:id="rId8"/>
    <p:sldId id="276" r:id="rId9"/>
    <p:sldId id="273" r:id="rId10"/>
    <p:sldId id="27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835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A33A6-1492-D6B8-588D-73E62179B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82D9F-972F-7EEF-DEE1-FFD18E194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0DA21-0339-AD1C-A0D9-03936BCE7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0E6D6-ECBF-1FE6-2F44-9DE7FC7F9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62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9990A-A92B-C328-CEDC-6F22E7808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E68C6-4FC3-3B37-FD1F-F536F73B8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96BED-490D-93B4-DEE9-77977C4FF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8424F-9F54-8DA5-ABEA-1AE5C20670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4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229600" y="0"/>
            <a:ext cx="3959352" cy="21945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8778240" y="2148840"/>
            <a:ext cx="3410712" cy="21945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9326880" y="4297680"/>
            <a:ext cx="2862072" cy="2194560"/>
          </a:xfrm>
          <a:prstGeom prst="rect">
            <a:avLst/>
          </a:prstGeom>
          <a:solidFill>
            <a:srgbClr val="5FB3A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TÉCNICA PARTICULAR DE LOJA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 final 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Oswaldo Vargas Naula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 Leonardo Yaguache Plaza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 23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5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públicos valiosos, pero inutilizables tal como llegan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BED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777240" y="1947672"/>
            <a:ext cx="594360" cy="594360"/>
          </a:xfrm>
          <a:prstGeom prst="ellipse">
            <a:avLst/>
          </a:prstGeom>
          <a:solidFill>
            <a:srgbClr val="C0503B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6" name="Image 0" descr="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210220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10512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instituciones ecuatorianas (BCE, INEC, Supercías, MINEDUC) publican en Excel/CSV con estructuras inconsistentes y sin protocolo común de integración.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2615184" cy="28803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6"/>
          <p:cNvSpPr/>
          <p:nvPr/>
        </p:nvSpPr>
        <p:spPr>
          <a:xfrm>
            <a:off x="1536192" y="33375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0" name="Image 1" descr="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613" y="35039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416052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Encabezados en múltiples filas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13232" y="48463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y metadatos antes de los datos reales; hojas sin fila de cabecera fija.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383280" y="3063240"/>
            <a:ext cx="2615184" cy="28803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0"/>
          <p:cNvSpPr/>
          <p:nvPr/>
        </p:nvSpPr>
        <p:spPr>
          <a:xfrm>
            <a:off x="4370832" y="33375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5" name="Image 2" descr="icons/fla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253" y="35039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20440" y="416052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provisionales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547872" y="48463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marcados como "2024 (p)" que rompen la conversión numérica estándar.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217920" y="3063240"/>
            <a:ext cx="2615184" cy="28803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4"/>
          <p:cNvSpPr/>
          <p:nvPr/>
        </p:nvSpPr>
        <p:spPr>
          <a:xfrm>
            <a:off x="7205472" y="33375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20" name="Image 3" descr="icons/gri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1893" y="350398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55080" y="416052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Estructuras pivotadas (wide)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382512" y="48463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Provincias y periodos como columnas, no como filas analizables.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052560" y="3063240"/>
            <a:ext cx="2615184" cy="28803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18"/>
          <p:cNvSpPr/>
          <p:nvPr/>
        </p:nvSpPr>
        <p:spPr>
          <a:xfrm>
            <a:off x="10040112" y="33375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25" name="Image 4" descr="icons/file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6533" y="350398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89720" y="416052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protocolo común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217152" y="48463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fuente institucional define su propio formato y convención de nombres.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archivos dispersos a un sistema analítico único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8745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pipeline de datos automatizado, escalable y reproducible del macroentorno ecuatoriano, con PostgreSQL 16 como motor de almacenamiento y Python como lenguaje de orquestación.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03580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doce datasets de cuatro fuentes institucionales en un esquema Silver normalizado.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216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548640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694176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seis vistas analíticas Gold que respondan preguntas estratégicas de la UTPL.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35254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 ejecución mediante un orquestador con registro centralizado de fuentes.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548640" y="5038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501091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un mecanismo watchdog para soporte a procesos RPA.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6967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548640" y="5696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56692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el sistema a Power BI para un dashboard ejecutivo.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· MACROENTORNO — FUENTES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instituciones, doce datasets, 1,6 mill+ registros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15184" cy="32918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15184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559052" y="199339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8" name="Image 0" descr="icons/b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6" y="2147926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8346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24612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del Ecuador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3977640"/>
            <a:ext cx="2066544" cy="0"/>
          </a:xfrm>
          <a:prstGeom prst="line">
            <a:avLst/>
          </a:prstGeom>
          <a:noFill/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9"/>
          <p:cNvSpPr/>
          <p:nvPr/>
        </p:nvSpPr>
        <p:spPr>
          <a:xfrm>
            <a:off x="713232" y="41148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datasets · PIB, WTI, riesgo país, IEE, VAB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83280" y="1828800"/>
            <a:ext cx="2615184" cy="32918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1"/>
          <p:cNvSpPr/>
          <p:nvPr/>
        </p:nvSpPr>
        <p:spPr>
          <a:xfrm>
            <a:off x="3383280" y="182880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5" name="Shape 12"/>
          <p:cNvSpPr/>
          <p:nvPr/>
        </p:nvSpPr>
        <p:spPr>
          <a:xfrm>
            <a:off x="3383280" y="2331720"/>
            <a:ext cx="2615184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Shape 13"/>
          <p:cNvSpPr/>
          <p:nvPr/>
        </p:nvSpPr>
        <p:spPr>
          <a:xfrm>
            <a:off x="4393692" y="199339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7" name="Image 1" descr="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226" y="2147926"/>
            <a:ext cx="285293" cy="28529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4720" y="28346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INEC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520440" y="324612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Nac. de Estadística y Censos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0" y="3977640"/>
            <a:ext cx="2066544" cy="0"/>
          </a:xfrm>
          <a:prstGeom prst="line">
            <a:avLst/>
          </a:prstGeom>
          <a:noFill/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7"/>
          <p:cNvSpPr/>
          <p:nvPr/>
        </p:nvSpPr>
        <p:spPr>
          <a:xfrm>
            <a:off x="3547872" y="41148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datasets · ENEMDU, Censo 2022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17920" y="1828800"/>
            <a:ext cx="2615184" cy="32918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19"/>
          <p:cNvSpPr/>
          <p:nvPr/>
        </p:nvSpPr>
        <p:spPr>
          <a:xfrm>
            <a:off x="6217920" y="182880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4" name="Shape 20"/>
          <p:cNvSpPr/>
          <p:nvPr/>
        </p:nvSpPr>
        <p:spPr>
          <a:xfrm>
            <a:off x="6217920" y="2331720"/>
            <a:ext cx="2615184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Shape 21"/>
          <p:cNvSpPr/>
          <p:nvPr/>
        </p:nvSpPr>
        <p:spPr>
          <a:xfrm>
            <a:off x="7228332" y="199339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26" name="Image 2" descr="icons/briefc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2866" y="2147926"/>
            <a:ext cx="285293" cy="28529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09360" y="28346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Supercías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355080" y="324612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Superintendencia de Compañías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492240" y="3977640"/>
            <a:ext cx="2066544" cy="0"/>
          </a:xfrm>
          <a:prstGeom prst="line">
            <a:avLst/>
          </a:prstGeom>
          <a:noFill/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5"/>
          <p:cNvSpPr/>
          <p:nvPr/>
        </p:nvSpPr>
        <p:spPr>
          <a:xfrm>
            <a:off x="6382512" y="41148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datasets · + ranking financiero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052560" y="1828800"/>
            <a:ext cx="2615184" cy="32918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27"/>
          <p:cNvSpPr/>
          <p:nvPr/>
        </p:nvSpPr>
        <p:spPr>
          <a:xfrm>
            <a:off x="9052560" y="182880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Shape 28"/>
          <p:cNvSpPr/>
          <p:nvPr/>
        </p:nvSpPr>
        <p:spPr>
          <a:xfrm>
            <a:off x="9052560" y="2331720"/>
            <a:ext cx="2615184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4" name="Shape 29"/>
          <p:cNvSpPr/>
          <p:nvPr/>
        </p:nvSpPr>
        <p:spPr>
          <a:xfrm>
            <a:off x="10062972" y="199339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35" name="Image 3" descr="icons/bookOpe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7506" y="2147926"/>
            <a:ext cx="285293" cy="28529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144000" y="28346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MINEDUC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9189720" y="324612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de Educación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9326880" y="3977640"/>
            <a:ext cx="2066544" cy="0"/>
          </a:xfrm>
          <a:prstGeom prst="line">
            <a:avLst/>
          </a:prstGeom>
          <a:noFill/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3"/>
          <p:cNvSpPr/>
          <p:nvPr/>
        </p:nvSpPr>
        <p:spPr>
          <a:xfrm>
            <a:off x="9217152" y="41148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dataset · Bachilleres por institución (AMIE)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1F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1" name="Text 35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datasets integrados  ·  </a:t>
            </a:r>
            <a:r>
              <a:rPr lang="en-US" sz="1300" dirty="0" err="1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1.6mill </a:t>
            </a:r>
            <a:r>
              <a:rPr lang="en-US" sz="1300" dirty="0" err="1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consolidados en un esquema relacional único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· MACROENTORNO — 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Medallion: Bronze → Silver → Gold</a:t>
            </a:r>
            <a:endParaRPr lang="en-US" sz="30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1C5BE4CB-5FD4-3D60-9F69-F13C536A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536192"/>
            <a:ext cx="7711440" cy="49573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vistas analíticas para decisiones estratégicas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2239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731520" y="1938528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gold_pib_tendencia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4142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ha crecido el PIB 1965–2024?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919472" y="2121408"/>
            <a:ext cx="868680" cy="685800"/>
          </a:xfrm>
          <a:prstGeom prst="roundRect">
            <a:avLst>
              <a:gd name="adj" fmla="val 10667"/>
            </a:avLst>
          </a:prstGeom>
          <a:solidFill>
            <a:srgbClr val="EAF1F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919472" y="212140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19472" y="25420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90488" y="1828800"/>
            <a:ext cx="542239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6373368" y="1938528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gold_empleo_tendencia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73368" y="2331720"/>
            <a:ext cx="4142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¿Evolución del mercado laboral?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0561320" y="2121408"/>
            <a:ext cx="868680" cy="685800"/>
          </a:xfrm>
          <a:prstGeom prst="roundRect">
            <a:avLst>
              <a:gd name="adj" fmla="val 10667"/>
            </a:avLst>
          </a:prstGeom>
          <a:solidFill>
            <a:srgbClr val="EAF1F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10561320" y="212140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61320" y="25420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542239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731520" y="3401568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gold_petroleo_30dias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4142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¿Tendencia WTI con media móvil 30d?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919472" y="3584448"/>
            <a:ext cx="868680" cy="685800"/>
          </a:xfrm>
          <a:prstGeom prst="roundRect">
            <a:avLst>
              <a:gd name="adj" fmla="val 10667"/>
            </a:avLst>
          </a:prstGeom>
          <a:solidFill>
            <a:srgbClr val="EAF1F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4919472" y="358444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19472" y="400507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90488" y="3291840"/>
            <a:ext cx="542239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6373368" y="3401568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gold_bachilleres_vs_empresas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73368" y="3794760"/>
            <a:ext cx="4142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¿Brecha educativa / empresarial?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10561320" y="3584448"/>
            <a:ext cx="868680" cy="685800"/>
          </a:xfrm>
          <a:prstGeom prst="roundRect">
            <a:avLst>
              <a:gd name="adj" fmla="val 10667"/>
            </a:avLst>
          </a:prstGeom>
          <a:solidFill>
            <a:srgbClr val="EAF1F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10561320" y="358444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61320" y="400507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542239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731520" y="4864608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gold_iee_sectorial_tendencia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5257800"/>
            <a:ext cx="4142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8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s-ES" sz="108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es el nivel de optimismo empresarial</a:t>
            </a:r>
            <a:r>
              <a:rPr lang="en-US" sz="108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4919472" y="5047488"/>
            <a:ext cx="868680" cy="685800"/>
          </a:xfrm>
          <a:prstGeom prst="roundRect">
            <a:avLst>
              <a:gd name="adj" fmla="val 10667"/>
            </a:avLst>
          </a:prstGeom>
          <a:solidFill>
            <a:srgbClr val="EAF1F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4919472" y="504748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19472" y="546811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90488" y="4754880"/>
            <a:ext cx="542239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Text 33"/>
          <p:cNvSpPr/>
          <p:nvPr/>
        </p:nvSpPr>
        <p:spPr>
          <a:xfrm>
            <a:off x="6373368" y="4864608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gold_vab_provincial_ranking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73368" y="5257800"/>
            <a:ext cx="4142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¿Ranking provincial multidimensional?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10561320" y="5047488"/>
            <a:ext cx="868680" cy="685800"/>
          </a:xfrm>
          <a:prstGeom prst="roundRect">
            <a:avLst>
              <a:gd name="adj" fmla="val 10667"/>
            </a:avLst>
          </a:prstGeom>
          <a:solidFill>
            <a:srgbClr val="EAF1F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10561320" y="504748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561320" y="546811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E9D10-B62F-CB75-1376-6328F688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FBE7B4A-62E1-4685-42F3-4EA5E3D0879C}"/>
              </a:ext>
            </a:extLst>
          </p:cNvPr>
          <p:cNvSpPr/>
          <p:nvPr/>
        </p:nvSpPr>
        <p:spPr>
          <a:xfrm>
            <a:off x="792480" y="1106736"/>
            <a:ext cx="3238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Macroeconomía</a:t>
            </a:r>
            <a:endParaRPr lang="en-US" sz="30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0754C61-50FA-323F-2079-9E09DD3020AA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60A2DEE4-C995-21E9-A75F-DC7A523AF9CC}"/>
              </a:ext>
            </a:extLst>
          </p:cNvPr>
          <p:cNvSpPr/>
          <p:nvPr/>
        </p:nvSpPr>
        <p:spPr>
          <a:xfrm>
            <a:off x="579742" y="324457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3000" dirty="0"/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B9A61ECB-D296-077C-771E-C41F2F4B6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59" y="1776737"/>
            <a:ext cx="4325576" cy="4756806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9210189A-5D53-883C-988D-C8D968406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073" y="1776737"/>
            <a:ext cx="5458454" cy="4756803"/>
          </a:xfrm>
          <a:prstGeom prst="rect">
            <a:avLst/>
          </a:prstGeom>
        </p:spPr>
      </p:pic>
      <p:sp>
        <p:nvSpPr>
          <p:cNvPr id="50" name="Text 1">
            <a:extLst>
              <a:ext uri="{FF2B5EF4-FFF2-40B4-BE49-F238E27FC236}">
                <a16:creationId xmlns:a16="http://schemas.microsoft.com/office/drawing/2014/main" id="{1DFD7587-15BA-C227-151F-84595804C263}"/>
              </a:ext>
            </a:extLst>
          </p:cNvPr>
          <p:cNvSpPr/>
          <p:nvPr/>
        </p:nvSpPr>
        <p:spPr>
          <a:xfrm>
            <a:off x="5309072" y="1050597"/>
            <a:ext cx="398421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</a:t>
            </a: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 Laboral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976715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77E79-840B-0D9D-6209-F77C6B48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263334B-0019-BBD9-1927-A17C731095A3}"/>
              </a:ext>
            </a:extLst>
          </p:cNvPr>
          <p:cNvSpPr/>
          <p:nvPr/>
        </p:nvSpPr>
        <p:spPr>
          <a:xfrm>
            <a:off x="792480" y="1106736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Bachilleres</a:t>
            </a: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 Empresas</a:t>
            </a:r>
            <a:endParaRPr lang="en-US" sz="30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7767508-E449-AAFC-9640-5A337624B5FC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92755AC6-F44E-353D-EC55-23BCF6DAD8B6}"/>
              </a:ext>
            </a:extLst>
          </p:cNvPr>
          <p:cNvSpPr/>
          <p:nvPr/>
        </p:nvSpPr>
        <p:spPr>
          <a:xfrm>
            <a:off x="579742" y="324457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3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36F4E2-B347-F5A0-7231-96B1D9DA3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42" y="1986641"/>
            <a:ext cx="9838136" cy="454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64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dos retos académicos a una infraestructura de datos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5FB3A3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5" name="Image 0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9476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5564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cumplieron todos los objetivos: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6 vistas Gold que responden preguntas estratégicas de la UTPL.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706624"/>
            <a:ext cx="457200" cy="457200"/>
          </a:xfrm>
          <a:prstGeom prst="ellipse">
            <a:avLst/>
          </a:prstGeom>
          <a:solidFill>
            <a:srgbClr val="5FB3A3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8" name="Image 1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82549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633472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Medallion permitió desarrollar, depurar y corregir cada capa de forma independiente, reduciendo el impacto de errores.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584448"/>
            <a:ext cx="457200" cy="457200"/>
          </a:xfrm>
          <a:prstGeom prst="ellipse">
            <a:avLst/>
          </a:prstGeom>
          <a:solidFill>
            <a:srgbClr val="5FB3A3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1" name="Image 2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70332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6758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nuevas fuentes se integran sin modificar el orquestador principal.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462272"/>
            <a:ext cx="457200" cy="457200"/>
          </a:xfrm>
          <a:prstGeom prst="ellipse">
            <a:avLst/>
          </a:prstGeom>
          <a:solidFill>
            <a:srgbClr val="5FB3A3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4" name="Image 3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581144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4389120"/>
            <a:ext cx="10332720" cy="649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heterogéneos requieren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adaptativas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lugar de estructuras fijas.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5340096"/>
            <a:ext cx="457200" cy="457200"/>
          </a:xfrm>
          <a:prstGeom prst="ellipse">
            <a:avLst/>
          </a:prstGeom>
          <a:solidFill>
            <a:srgbClr val="5FB3A3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7" name="Image 4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458968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5266944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puede operar como infraestructura de monitoreo continuo gracias al modo watchdog, integrando nuevas publicaciones sin intervención manual.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959352" cy="21945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0" y="2148840"/>
            <a:ext cx="3410712" cy="21945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2862072" cy="2194560"/>
          </a:xfrm>
          <a:prstGeom prst="rect">
            <a:avLst/>
          </a:prstGeom>
          <a:solidFill>
            <a:srgbClr val="5FB3A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4572000" y="24688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 Leonardo Yaguache Plaza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563</Words>
  <Application>Microsoft Office PowerPoint</Application>
  <PresentationFormat>Panorámica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Mateo Yaguache</cp:lastModifiedBy>
  <cp:revision>4</cp:revision>
  <dcterms:created xsi:type="dcterms:W3CDTF">2026-07-23T12:41:55Z</dcterms:created>
  <dcterms:modified xsi:type="dcterms:W3CDTF">2026-07-23T16:05:55Z</dcterms:modified>
</cp:coreProperties>
</file>